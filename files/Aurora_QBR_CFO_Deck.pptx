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4506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44506B"/>
                </a:solidFill>
                <a:latin typeface="Arial"/>
              </a:rPr>
              <a:t>Quarterly Revenue (bars) vs. EBITDA (line)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Q1'23</c:v>
                  </c:pt>
                  <c:pt idx="1">
                    <c:v>Q2'23</c:v>
                  </c:pt>
                  <c:pt idx="2">
                    <c:v>Q3'23</c:v>
                  </c:pt>
                  <c:pt idx="3">
                    <c:v>Q4'23</c:v>
                  </c:pt>
                  <c:pt idx="4">
                    <c:v>Q1'24</c:v>
                  </c:pt>
                  <c:pt idx="5">
                    <c:v>Q2'24</c:v>
                  </c:pt>
                  <c:pt idx="6">
                    <c:v>Q3'24</c:v>
                  </c:pt>
                  <c:pt idx="7">
                    <c:v>Q4'24</c:v>
                  </c:pt>
                  <c:pt idx="8">
                    <c:v>Q1'25</c:v>
                  </c:pt>
                  <c:pt idx="9">
                    <c:v>Q2'25</c:v>
                  </c:pt>
                  <c:pt idx="10">
                    <c:v>Q3'25</c:v>
                  </c:pt>
                  <c:pt idx="11">
                    <c:v>Q4'25</c:v>
                  </c:pt>
                  <c:pt idx="12">
                    <c:v>Q1'26</c:v>
                  </c:pt>
                  <c:pt idx="13">
                    <c:v>Q2'26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8156629</c:v>
                </c:pt>
                <c:pt idx="1">
                  <c:v>8649991</c:v>
                </c:pt>
                <c:pt idx="2">
                  <c:v>9075121</c:v>
                </c:pt>
                <c:pt idx="3">
                  <c:v>9732533</c:v>
                </c:pt>
                <c:pt idx="4">
                  <c:v>10268392</c:v>
                </c:pt>
                <c:pt idx="5">
                  <c:v>10864822</c:v>
                </c:pt>
                <c:pt idx="6">
                  <c:v>11227663</c:v>
                </c:pt>
                <c:pt idx="7">
                  <c:v>11951862</c:v>
                </c:pt>
                <c:pt idx="8">
                  <c:v>12479170</c:v>
                </c:pt>
                <c:pt idx="9">
                  <c:v>12906922</c:v>
                </c:pt>
                <c:pt idx="10">
                  <c:v>13371320</c:v>
                </c:pt>
                <c:pt idx="11">
                  <c:v>13778713</c:v>
                </c:pt>
                <c:pt idx="12">
                  <c:v>14186856</c:v>
                </c:pt>
                <c:pt idx="13">
                  <c:v>14677009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EBITDA ($)</c:v>
                </c:pt>
              </c:strCache>
            </c:strRef>
          </c:tx>
          <c:spPr>
            <a:solidFill>
              <a:srgbClr val="D4A94C"/>
            </a:solidFill>
            <a:ln w="25400" cap="flat">
              <a:solidFill>
                <a:srgbClr val="D4A9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94C"/>
              </a:solidFill>
              <a:ln w="9525" cap="flat">
                <a:solidFill>
                  <a:srgbClr val="D4A9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Q1'23</c:v>
                  </c:pt>
                  <c:pt idx="1">
                    <c:v>Q2'23</c:v>
                  </c:pt>
                  <c:pt idx="2">
                    <c:v>Q3'23</c:v>
                  </c:pt>
                  <c:pt idx="3">
                    <c:v>Q4'23</c:v>
                  </c:pt>
                  <c:pt idx="4">
                    <c:v>Q1'24</c:v>
                  </c:pt>
                  <c:pt idx="5">
                    <c:v>Q2'24</c:v>
                  </c:pt>
                  <c:pt idx="6">
                    <c:v>Q3'24</c:v>
                  </c:pt>
                  <c:pt idx="7">
                    <c:v>Q4'24</c:v>
                  </c:pt>
                  <c:pt idx="8">
                    <c:v>Q1'25</c:v>
                  </c:pt>
                  <c:pt idx="9">
                    <c:v>Q2'25</c:v>
                  </c:pt>
                  <c:pt idx="10">
                    <c:v>Q3'25</c:v>
                  </c:pt>
                  <c:pt idx="11">
                    <c:v>Q4'25</c:v>
                  </c:pt>
                  <c:pt idx="12">
                    <c:v>Q1'26</c:v>
                  </c:pt>
                  <c:pt idx="13">
                    <c:v>Q2'26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-311169</c:v>
                </c:pt>
                <c:pt idx="1">
                  <c:v>-22247</c:v>
                </c:pt>
                <c:pt idx="2">
                  <c:v>-49655</c:v>
                </c:pt>
                <c:pt idx="3">
                  <c:v>473112</c:v>
                </c:pt>
                <c:pt idx="4">
                  <c:v>808372</c:v>
                </c:pt>
                <c:pt idx="5">
                  <c:v>844709</c:v>
                </c:pt>
                <c:pt idx="6">
                  <c:v>871994</c:v>
                </c:pt>
                <c:pt idx="7">
                  <c:v>1354995</c:v>
                </c:pt>
                <c:pt idx="8">
                  <c:v>1433401</c:v>
                </c:pt>
                <c:pt idx="9">
                  <c:v>1174189</c:v>
                </c:pt>
                <c:pt idx="10">
                  <c:v>1362956</c:v>
                </c:pt>
                <c:pt idx="11">
                  <c:v>1318050</c:v>
                </c:pt>
                <c:pt idx="12">
                  <c:v>1261409</c:v>
                </c:pt>
                <c:pt idx="13">
                  <c:v>1257247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Revenue ($)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EBITDA ($)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A56B4"/>
              </a:solidFill>
              <a:effectLst/>
            </c:spPr>
          </c:dPt>
          <c:dPt>
            <c:idx val="2"/>
            <c:bubble3D val="0"/>
            <c:spPr>
              <a:solidFill>
                <a:srgbClr val="D4A94C"/>
              </a:solidFill>
              <a:effectLst/>
            </c:spPr>
          </c:dPt>
          <c:dPt>
            <c:idx val="3"/>
            <c:bubble3D val="0"/>
            <c:spPr>
              <a:solidFill>
                <a:srgbClr val="9AA6C4"/>
              </a:solidFill>
              <a:effectLst/>
            </c:spPr>
          </c:dPt>
          <c:dLbls>
            <c:dLbl>
              <c:idx val="0"/>
              <c:numFmt formatCode="$#,##0,&quot;K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$#,##0,&quot;K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$#,##0,&quot;K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$#,##0,&quot;K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$#,##0,&quot;K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Cloud Platform</c:v>
                </c:pt>
                <c:pt idx="1">
                  <c:v>Data Analytics</c:v>
                </c:pt>
                <c:pt idx="2">
                  <c:v>Hardware &amp; IoT</c:v>
                </c:pt>
                <c:pt idx="3">
                  <c:v>Professional Svcs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6441886</c:v>
                </c:pt>
                <c:pt idx="1">
                  <c:v>4598822</c:v>
                </c:pt>
                <c:pt idx="2">
                  <c:v>2322056</c:v>
                </c:pt>
                <c:pt idx="3">
                  <c:v>1314245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4506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44506B"/>
                </a:solidFill>
                <a:latin typeface="Arial"/>
              </a:rPr>
              <a:t>Budget vs. Actual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44506B"/>
            </a:solidFill>
            <a:effectLst/>
          </c:spPr>
          <c:invertIfNegative val="0"/>
          <c:dLbls>
            <c:numFmt formatCode="$#,##0,,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Revenue</c:v>
                  </c:pt>
                  <c:pt idx="1">
                    <c:v>Opex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15488306</c:v>
                </c:pt>
                <c:pt idx="1">
                  <c:v>13609969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,,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Revenue</c:v>
                  </c:pt>
                  <c:pt idx="1">
                    <c:v>Opex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14677009</c:v>
                </c:pt>
                <c:pt idx="1">
                  <c:v>13419762</c:v>
                </c:pt>
              </c:numCache>
            </c:numRef>
          </c:val>
        </c:ser>
        <c:dLbls>
          <c:numFmt formatCode="$#,##0,,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227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4506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44506B"/>
                </a:solidFill>
                <a:latin typeface="Arial"/>
              </a:rPr>
              <a:t>Mean Absolute % Error (lower =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Linear Regression</c:v>
                  </c:pt>
                  <c:pt idx="1">
                    <c:v>Linear Trend</c:v>
                  </c:pt>
                  <c:pt idx="2">
                    <c:v>Naive</c:v>
                  </c:pt>
                  <c:pt idx="3">
                    <c:v>Gradient Boosting</c:v>
                  </c:pt>
                  <c:pt idx="4">
                    <c:v>Moving Avg (3mo)</c:v>
                  </c:pt>
                  <c:pt idx="5">
                    <c:v>Random Forest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1.65</c:v>
                </c:pt>
                <c:pt idx="1">
                  <c:v>2.65</c:v>
                </c:pt>
                <c:pt idx="2">
                  <c:v>2.66</c:v>
                </c:pt>
                <c:pt idx="3">
                  <c:v>2.67</c:v>
                </c:pt>
                <c:pt idx="4">
                  <c:v>2.96</c:v>
                </c:pt>
                <c:pt idx="5">
                  <c:v>3.11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227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4506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44506B"/>
                </a:solidFill>
                <a:latin typeface="Arial"/>
              </a:rPr>
              <a:t>H2 FY26 Revenue &amp; EBITDA Proxy by Scenario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44506B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Downside</c:v>
                  </c:pt>
                  <c:pt idx="1">
                    <c:v>Base</c:v>
                  </c:pt>
                  <c:pt idx="2">
                    <c:v>Upside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28.78</c:v>
                </c:pt>
                <c:pt idx="1">
                  <c:v>30.78</c:v>
                </c:pt>
                <c:pt idx="2">
                  <c:v>32.35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proxy ($M)</c:v>
                </c:pt>
              </c:strCache>
            </c:strRef>
          </c:tx>
          <c:spPr>
            <a:solidFill>
              <a:srgbClr val="D4A94C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Downside</c:v>
                  </c:pt>
                  <c:pt idx="1">
                    <c:v>Base</c:v>
                  </c:pt>
                  <c:pt idx="2">
                    <c:v>Upside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1.48</c:v>
                </c:pt>
                <c:pt idx="1">
                  <c:v>2.93</c:v>
                </c:pt>
                <c:pt idx="2">
                  <c:v>4.08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227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 Revenue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FY27</c:v>
                  </c:pt>
                  <c:pt idx="1">
                    <c:v>FY28</c:v>
                  </c:pt>
                  <c:pt idx="2">
                    <c:v>FY29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144.1</c:v>
                </c:pt>
                <c:pt idx="1">
                  <c:v>171.5</c:v>
                </c:pt>
                <c:pt idx="2">
                  <c:v>200.7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 Opex ($M)</c:v>
                </c:pt>
              </c:strCache>
            </c:strRef>
          </c:tx>
          <c:spPr>
            <a:solidFill>
              <a:srgbClr val="4450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FY27</c:v>
                  </c:pt>
                  <c:pt idx="1">
                    <c:v>FY28</c:v>
                  </c:pt>
                  <c:pt idx="2">
                    <c:v>FY29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127.2</c:v>
                </c:pt>
                <c:pt idx="1">
                  <c:v>145</c:v>
                </c:pt>
                <c:pt idx="2">
                  <c:v>163.8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EBITDA Margin %</c:v>
                </c:pt>
              </c:strCache>
            </c:strRef>
          </c:tx>
          <c:spPr>
            <a:solidFill>
              <a:srgbClr val="D4A94C"/>
            </a:solidFill>
            <a:ln w="25400" cap="flat">
              <a:solidFill>
                <a:srgbClr val="D4A9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94C"/>
              </a:solidFill>
              <a:ln w="9525" cap="flat">
                <a:solidFill>
                  <a:srgbClr val="D4A9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FY27</c:v>
                  </c:pt>
                  <c:pt idx="1">
                    <c:v>FY28</c:v>
                  </c:pt>
                  <c:pt idx="2">
                    <c:v>FY29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11.8</c:v>
                </c:pt>
                <c:pt idx="1">
                  <c:v>15.5</c:v>
                </c:pt>
                <c:pt idx="2">
                  <c:v>18.4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$ Millions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EBITDA Margin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DYNAMICS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FY2026 Business Review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ended June 30, 2026  ·  Prepared for the Executive Leadership Team &amp; 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2194560" cy="219456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0" y="1188720"/>
            <a:ext cx="1097280" cy="1097280"/>
          </a:xfrm>
          <a:prstGeom prst="ellipse">
            <a:avLst/>
          </a:prstGeom>
          <a:solidFill>
            <a:srgbClr val="D4A94C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INTERNAL FINANCE USE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grew 13.7% YoY; disciplined opex management offset a revenue miss vs. an aggressive budget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73352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FY26 Revenue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" y="2057400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$14.68M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13232" y="274320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+13.7% YoY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46704" y="150876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11296" y="1673352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FY26 EBITDA Margin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11296" y="2057400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8.6%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11296" y="274320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9.1% PY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44768" y="150876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673352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vs. Budget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09360" y="2057400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-5.2%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-$0.81M miss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42832" y="150876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07424" y="1673352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vs. Budget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07424" y="2057400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-1.4%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107424" y="274320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$0.19M favorable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2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Platform and Data Analytics subscription segments remain the primary growth engines, together contributing ~75% of Q2 revenue.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2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underperformed an optimistic FY26 budget set last November; underlying growth trajectory remains healthy at double digits YoY.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2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held steady at ~75%; opex discipline in Sales &amp; Marketing partially offset softer new-logo bookings.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2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FY26 rolling forecast and three scenario cases (Base / Upside / Downside) are presented later in this deck for planning purposes.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EBITDA Trend — FY2023 to Q2 FY2026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Consolidated monthly P&amp;L (synthetic dataset), rolled up to fiscal quarter.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FY26 Revenue by Segment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businesses (Cloud Platform + Data Analytics) drive ~75% of revenue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6692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554480"/>
          <a:ext cx="5029200" cy="274320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Revenue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Total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Platform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$6.44M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43.9%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Analytics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$4.60M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31.3%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 &amp; IoT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$2.32M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15.8%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 Svcs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$1.31M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583680" y="4572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Platform's enterprise motion continues to outperform, with services attach rate steady at ~11% of subscription revenue.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vs. Budget — Q2 FY2026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missed an aggressive budget; opex came in under plan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554480"/>
          <a:ext cx="4937760" cy="1463040"/>
        </p:xfrm>
        <a:graphic>
          <a:graphicData uri="http://schemas.openxmlformats.org/drawingml/2006/table">
            <a:tbl>
              <a:tblPr/>
              <a:tblGrid>
                <a:gridCol w="987552"/>
                <a:gridCol w="987552"/>
                <a:gridCol w="987552"/>
                <a:gridCol w="987552"/>
                <a:gridCol w="9875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$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$15.49M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$14.68M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($0.81M)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-5.2%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$13.61M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$13.42M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$0.19M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-1.4%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675120" y="32004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2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revenue shortfall stems primarily from softer net-new logo bookings in the SMB segment and lengthening enterprise sales cycles amid macro budget scrutiny — not from pricing or churn deterioration. Opex favorability reflects delayed discretionary marketing spend and hiring-plan timing, not a structural cost reduction.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Model Accuracy 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and machine-learning models evaluated on a 6-month holdout of trailing actuals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98080" y="1554480"/>
            <a:ext cx="41148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Feature-engineered regression models (lags, rolling means, seasonality) were trained on FY23–FY25 monthly revenue and tested against the trailing six actual months.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with engineered features achieved the lowest error (1.65% MAPE), modestly outperforming tree-based ensembles on this relatively smooth, trend-dominated revenue series.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winning specification has been used to project the H2 FY26 revenue path shown in the appendix, supplementing the driver-based FP&amp;A forecast.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 FY2026 Scenario Planning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Base, Upside, and Downside cases applied to the latest rolling forecast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554480"/>
          <a:ext cx="4114800" cy="219456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 assumption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 EBITDA proxy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+4.5pp rev growth, -0.6pp churn, opex flexes +1.5pp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$4.08M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Latest board-approved trajectory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$2.93M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Downside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-5.5pp rev growth, +1.0pp churn, opex cut -2.0pp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$1.48M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498080" y="402336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2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Downside case still generates positive EBITDA, reflecting the flexibility built into discretionary opex (marketing programs, T&amp;E, contractor spend).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Three-Year Long-Range Plan (FY2027–FY2029)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case: revenue CAGR ~19%, EBITDA margin expanding from 12% to 18%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Commentary — NLP-Derived Themes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scoring and topic clustering across 70 quarterly department narratives, FY23–FY26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5819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819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984248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&amp; Expansion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2560320"/>
            <a:ext cx="23225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 growth, customer/subscription growth, and new-market expansion themes dominate ~35% of positive commentary.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3593592" y="15819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15819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93592" y="1984248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Execution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93592" y="2560320"/>
            <a:ext cx="23225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and cycle-time improvements (close cycle, ticket resolution, onboarding) recur across G&amp;A and Customer Success.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73952" y="15819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15819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73952" y="1984248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Pressure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73952" y="2560320"/>
            <a:ext cx="23225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Unplanned hosting capacity, facilities expansion, and legal/professional fees are the leading sources of negative-tone commentary.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14173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5F8"/>
          </a:solidFill>
          <a:ln/>
        </p:spPr>
      </p:sp>
      <p:sp>
        <p:nvSpPr>
          <p:cNvPr id="20" name="Shape 18"/>
          <p:cNvSpPr/>
          <p:nvPr/>
        </p:nvSpPr>
        <p:spPr>
          <a:xfrm>
            <a:off x="9354312" y="15819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44506B"/>
          </a:solidFill>
          <a:ln/>
        </p:spPr>
      </p:sp>
      <p:sp>
        <p:nvSpPr>
          <p:cNvPr id="21" name="Text 19"/>
          <p:cNvSpPr/>
          <p:nvPr/>
        </p:nvSpPr>
        <p:spPr>
          <a:xfrm>
            <a:off x="9354312" y="15819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54312" y="1984248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&amp; Staffing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54312" y="2560320"/>
            <a:ext cx="23225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headcount and staffing-increase language, largely neutral in tone and plan-consistent.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800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lexicon-based sentiment scoring (custom finance/ops vocabulary) + TF-IDF vectorization with K-Means topic clustering (scikit-learn), run against synthetic quarterly management commentary.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5257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observed between quarterly commentary sentiment and opex variance %: -0.15, directionally consistent with negative-tone commentary accompanying cost overruns.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Reforecast FY26 revenue to reflect Q2 actuals and updated H2 pipeline coverage; present to Board in August.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SMB save-desk motion to address early churn signal identified in Q2 commentary and driver-model churn rate.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Tighten H2 discretionary opex approval workflow to preserve the favorable spend variance without impacting delivery.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ML forecasting pipeline to segment-level revenue for FY27 annual budget cycle kickoff in Q4.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FP&amp;A  ·  Aurora Dynamics Inc.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2026-07-27T20:35:05Z</dcterms:created>
  <dcterms:modified xsi:type="dcterms:W3CDTF">2026-07-27T20:35:05Z</dcterms:modified>
</cp:coreProperties>
</file>